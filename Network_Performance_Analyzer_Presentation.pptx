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4B3A8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56064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22992" y="1188720"/>
            <a:ext cx="502920" cy="0"/>
          </a:xfrm>
          <a:prstGeom prst="line">
            <a:avLst/>
          </a:prstGeom>
          <a:noFill/>
          <a:ln w="25400">
            <a:solidFill>
              <a:srgbClr val="1C8C9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771632" y="914400"/>
            <a:ext cx="548640" cy="54864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9" name="Text 7"/>
          <p:cNvSpPr/>
          <p:nvPr/>
        </p:nvSpPr>
        <p:spPr>
          <a:xfrm>
            <a:off x="10771632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1812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Engineering Lab  ·  17M15CS122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" y="25146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Analyzer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Queuing-theory based simulation of network packet queues using SimPy — validated against theory, with TCP vs UDP analysis.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5257800"/>
            <a:ext cx="2926080" cy="0"/>
          </a:xfrm>
          <a:prstGeom prst="line">
            <a:avLst/>
          </a:prstGeom>
          <a:noFill/>
          <a:ln w="19050">
            <a:solidFill>
              <a:srgbClr val="1C8C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Abhijeet Kumar (22803029)   ·   Viyom Shukla (22803030)   ·   Devang Dixit (22803031)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 </a:t>
            </a:r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Shikha Jain, Associate Professor, Dept. of CSE  ·  JIIT Sector 62, Noida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analyze network queues?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traffic grows, packets wait in buffers and queues before transmission.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arrival rate approaches link capacity, queues build up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causing higher delay, more packet loss, and lower throughput.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852160" cy="1554480"/>
          </a:xfrm>
          <a:prstGeom prst="rect">
            <a:avLst/>
          </a:prstGeom>
          <a:solidFill>
            <a:srgbClr val="F5F8FB"/>
          </a:solidFill>
          <a:ln w="12700">
            <a:solidFill>
              <a:srgbClr val="DCE6F2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theory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(M/M/1, M/M/c) with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simulation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(SimPy) to reproduce and validate real network behaviour in a controlled, repeatable way.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8737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 </a:t>
            </a:r>
            <a:pPr indent="0" marL="0"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wait longer in the buffer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40410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loss:  </a:t>
            </a:r>
            <a:pPr indent="0" marL="0"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buffers drop arrivals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952744"/>
            <a:ext cx="384048" cy="384048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93445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 </a:t>
            </a:r>
            <a:pPr indent="0" marL="0"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data rate falls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60020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single-server queue  (M/M/1)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866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4B3A8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436B"/>
          </a:solidFill>
          <a:ln w="12700">
            <a:solidFill>
              <a:srgbClr val="24B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 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64040" y="3300984"/>
            <a:ext cx="640080" cy="0"/>
          </a:xfrm>
          <a:prstGeom prst="line">
            <a:avLst/>
          </a:prstGeom>
          <a:noFill/>
          <a:ln w="25400">
            <a:solidFill>
              <a:srgbClr val="1C8C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2971800"/>
            <a:ext cx="685800" cy="68580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2980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4805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λ / (c·μ)
</a:t>
            </a:r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intensity — the fraction of capacity in use. Must stay below 1 for a stable queue.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importance of queuing analysis in computer networks.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6552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72584" y="1810512"/>
            <a:ext cx="548640" cy="54864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0" name="Text 8"/>
          <p:cNvSpPr/>
          <p:nvPr/>
        </p:nvSpPr>
        <p:spPr>
          <a:xfrm>
            <a:off x="4672584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2584" y="251460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simulate single-server (M/M/1) and multi-server (M/M/c) models.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84464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0496" y="1810512"/>
            <a:ext cx="548640" cy="54864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14" name="Text 12"/>
          <p:cNvSpPr/>
          <p:nvPr/>
        </p:nvSpPr>
        <p:spPr>
          <a:xfrm>
            <a:off x="8540496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0496" y="2514600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simulation against theory — Little's Law and Erlang-C.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306824"/>
            <a:ext cx="548640" cy="54864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5010912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throughput, average delay and packet loss.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16552" y="4050792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4306824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72584" y="5010912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TCP vs UDP behaviour under varying traffic loads.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84464" y="4050792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40496" y="4306824"/>
            <a:ext cx="548640" cy="54864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0496" y="5010912"/>
            <a:ext cx="309981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queue configuration that performs best for a given load.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the analysis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 at rate 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78808" y="2542032"/>
            <a:ext cx="219456" cy="219456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7373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1C8C9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965960"/>
            <a:ext cx="502920" cy="50292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72584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M/M/1, M/M/c, M/M/c/K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542032"/>
            <a:ext cx="219456" cy="219456"/>
          </a:xfrm>
          <a:prstGeom prst="rightArrow">
            <a:avLst/>
          </a:prstGeom>
          <a:solidFill>
            <a:srgbClr val="1C8C9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7373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24B3A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1965960"/>
            <a:ext cx="502920" cy="50292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53144" y="193852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40496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service; drop if full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E8963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270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Per-packet statistics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78808" y="4873752"/>
            <a:ext cx="219456" cy="219456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27" name="Shape 25"/>
          <p:cNvSpPr/>
          <p:nvPr/>
        </p:nvSpPr>
        <p:spPr>
          <a:xfrm>
            <a:off x="4416552" y="4069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4297680"/>
            <a:ext cx="502920" cy="5029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85232" y="4270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72584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vs theory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4873752"/>
            <a:ext cx="219456" cy="219456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33" name="Shape 31"/>
          <p:cNvSpPr/>
          <p:nvPr/>
        </p:nvSpPr>
        <p:spPr>
          <a:xfrm>
            <a:off x="8284464" y="406908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5F8FB"/>
          </a:solidFill>
          <a:ln w="19050">
            <a:solidFill>
              <a:srgbClr val="1C8C9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13064" y="4297680"/>
            <a:ext cx="502920" cy="50292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35" name="Text 33"/>
          <p:cNvSpPr/>
          <p:nvPr/>
        </p:nvSpPr>
        <p:spPr>
          <a:xfrm>
            <a:off x="8513064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53144" y="42702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Compare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Visualization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40496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 · graphs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064240" y="3611880"/>
            <a:ext cx="219456" cy="365760"/>
          </a:xfrm>
          <a:prstGeom prst="downArrow">
            <a:avLst/>
          </a:prstGeom>
          <a:solidFill>
            <a:srgbClr val="E8963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= one stage of the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traffic_generator.py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20440" y="160020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arrivals &amp; exponential service times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500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queue_models.py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20440" y="23500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 engine for M/M/1, M/M/c, M/M/c/K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9981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theoretical.py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3099816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formulas — Little's Law, Erlang-C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962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3849624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delay, loss, utilisation + validation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9943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protocol_comparison.py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459943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 behaviour under load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6126480" cy="658368"/>
          </a:xfrm>
          <a:prstGeom prst="roundRect">
            <a:avLst>
              <a:gd name="adj" fmla="val 9722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349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visualization.py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534924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graphs &amp; reports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4663440" cy="4617720"/>
          </a:xfrm>
          <a:prstGeom prst="roundRect">
            <a:avLst>
              <a:gd name="adj" fmla="val 198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run it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24688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6436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2761488"/>
            <a:ext cx="502920" cy="50292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6151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92440" y="29992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— live sliders &amp; graphs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3703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6436B"/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0" y="3995928"/>
            <a:ext cx="502920" cy="50292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38496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92440" y="4233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--demo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49377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6436B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5230368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5084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546811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click, self-contained, runs anywhere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from simple to realistic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5F8FB"/>
          </a:solidFill>
          <a:ln w="1905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buffer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one link,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16459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5F8FB"/>
          </a:solidFill>
          <a:ln w="19050">
            <a:solidFill>
              <a:srgbClr val="1C8C9B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64592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C8C9B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6459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90872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parallel servers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buffer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3611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adding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(Erlang-C)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84464" y="16459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5F8FB"/>
          </a:solidFill>
          <a:ln w="19050">
            <a:solidFill>
              <a:srgbClr val="E8963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64592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E896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6459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M/M/c/K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58784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servers, finite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of size 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58784" y="3611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 →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377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queuing theory: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Little's Law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 = λ·W)  couples number-in-system to delay;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Erlang-C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probability an arrival must wait. Simulation reproduces both to within ~1–2%.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measured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numbers that describe the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03120"/>
            <a:ext cx="822960" cy="82296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successfully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per second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pkts / 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0268" y="2103120"/>
            <a:ext cx="822960" cy="82296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0268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30168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75888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system: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+ service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13048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3813048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Wq + 1/μ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37376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74636" y="2103120"/>
            <a:ext cx="822960" cy="82296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7463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74536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0256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arrivals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(buffer full)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57416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416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P(block)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81744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19004" y="2103120"/>
            <a:ext cx="822960" cy="82296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27" name="Text 25"/>
          <p:cNvSpPr/>
          <p:nvPr/>
        </p:nvSpPr>
        <p:spPr>
          <a:xfrm>
            <a:off x="1031900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518904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64624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time the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server(s) stay busy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701784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31" name="Text 29"/>
          <p:cNvSpPr/>
          <p:nvPr/>
        </p:nvSpPr>
        <p:spPr>
          <a:xfrm>
            <a:off x="9701784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λ/(c·μ)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prints a Simulation-vs-Theory table so the two can be cross-checked.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simulation validated against theory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 load sweep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8595360" cy="38822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8FB"/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532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sit on the curve.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(dots) matches theory (line) — errors &lt; 2%.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72200" y="55321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8FB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5532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explodes as ρ → 1.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queuing 'knee' — throughput tracks load until saturation.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TCP vs UDP under increasing load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reliability-vs-latency trade-off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10881360" cy="40406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623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5943600"/>
            <a:ext cx="292608" cy="292608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7" name="Text 4"/>
          <p:cNvSpPr/>
          <p:nvPr/>
        </p:nvSpPr>
        <p:spPr>
          <a:xfrm>
            <a:off x="1298448" y="56875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— best-effort
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up to ~38% of packets under overload, but keeps delay low.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5623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9" name="Shape 6"/>
          <p:cNvSpPr/>
          <p:nvPr/>
        </p:nvSpPr>
        <p:spPr>
          <a:xfrm>
            <a:off x="6419088" y="5943600"/>
            <a:ext cx="292608" cy="29260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7"/>
          <p:cNvSpPr/>
          <p:nvPr/>
        </p:nvSpPr>
        <p:spPr>
          <a:xfrm>
            <a:off x="6876288" y="56875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— reliable
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Retransmits → ≈0% loss and goodput capped at capacity, but delay grows sharply.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servers, lower delay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 vs M/M/c  ·  simulation vs theory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32990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486400" cy="31476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029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servers keeps delay far lower at the same per-server load.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63640" y="5029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and theoretical metrics agree bar-for-bar.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E2A47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6235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configuration for a given load is the one that keeps ρ comfortably below 1 — often by adding a server rather than a faster one.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the Python scientific stack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0260"/>
            <a:ext cx="640080" cy="64008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3008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2080260"/>
            <a:ext cx="640080" cy="64008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98848" y="169164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7376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93408" y="2080260"/>
            <a:ext cx="640080" cy="64008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43216" y="169164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81744" y="169164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37776" y="2080260"/>
            <a:ext cx="640080" cy="64008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18" name="Text 16"/>
          <p:cNvSpPr/>
          <p:nvPr/>
        </p:nvSpPr>
        <p:spPr>
          <a:xfrm>
            <a:off x="9637776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387584" y="169164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formulas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771900"/>
            <a:ext cx="640080" cy="64008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771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38328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charts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93008" y="338328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3771900"/>
            <a:ext cx="640080" cy="64008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3771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98848" y="338328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results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7376" y="338328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93408" y="3771900"/>
            <a:ext cx="640080" cy="64008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3771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43216" y="338328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81744" y="338328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ABF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37776" y="3771900"/>
            <a:ext cx="640080" cy="64008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34" name="Text 32"/>
          <p:cNvSpPr/>
          <p:nvPr/>
        </p:nvSpPr>
        <p:spPr>
          <a:xfrm>
            <a:off x="9637776" y="37719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387584" y="3383280"/>
            <a:ext cx="1554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E2A47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shareable: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on GitHub  ·  one-click Google Colab notebook  ·  live web app on Streamlit Community Cloud.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simulation of M/M/1 and M/M/c queues validated against theory.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06040"/>
            <a:ext cx="384048" cy="384048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throughput, delay and loss under varying loads.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64992"/>
            <a:ext cx="384048" cy="384048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20954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comparison of TCP vs UDP behaviour under congestion.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23944"/>
            <a:ext cx="384048" cy="384048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96849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the best queue configuration for a given load.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EF3F8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82896"/>
            <a:ext cx="384048" cy="38404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82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72744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of results through graphs and comparison charts.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F5F8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41848"/>
            <a:ext cx="384048" cy="384048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41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486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understanding of network optimisation via queuing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theory + discrete-event simulation gives an intuitive, validated view of network performance.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643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24B3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reproduces queuing theory to within ~1–2%.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6436B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240280"/>
            <a:ext cx="502920" cy="502920"/>
          </a:xfrm>
          <a:prstGeom prst="ellipse">
            <a:avLst/>
          </a:prstGeom>
          <a:solidFill>
            <a:srgbClr val="1C8C9B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0952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servers (M/M/c) sharply reduces delay at the same load.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6436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224028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61704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Insightful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5904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trades higher delay for ≈0 loss; UDP keeps low delay but loses data under overload.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206240"/>
            <a:ext cx="10881360" cy="0"/>
          </a:xfrm>
          <a:prstGeom prst="line">
            <a:avLst/>
          </a:prstGeom>
          <a:noFill/>
          <a:ln w="19050">
            <a:solidFill>
              <a:srgbClr val="1643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Kleinrock,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 Systems, Vol. 1: Theory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Wiley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Raj Jain,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Computer Systems Performance Analysis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Wiley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Kurose &amp; Ross,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Networking: A Top-Down Approach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Pearson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63840" y="4434840"/>
            <a:ext cx="3703320" cy="1737360"/>
          </a:xfrm>
          <a:prstGeom prst="roundRect">
            <a:avLst>
              <a:gd name="adj" fmla="val 5263"/>
            </a:avLst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4572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project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49377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
</a:t>
            </a:r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github.com/DEVANGDIXIT04/
network-performance-analyzer
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Colab · live Streamlit 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Abhijeet Kumar (22803029)  ·  Viyom Shukla (22803030)  ·  Devang Dixit (22803031)      |      JIIT Sector 62  ·  Performance Engineering Lab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Protocol Performance Analyzer</dc:title>
  <dc:subject>PptxGenJS Presentation</dc:subject>
  <dc:creator>Abhijeet Kumar, Viyom Shukla, Devang Dixit</dc:creator>
  <cp:lastModifiedBy>Abhijeet Kumar, Viyom Shukla, Devang Dixit</cp:lastModifiedBy>
  <cp:revision>1</cp:revision>
  <dcterms:created xsi:type="dcterms:W3CDTF">2026-07-19T16:37:24Z</dcterms:created>
  <dcterms:modified xsi:type="dcterms:W3CDTF">2026-07-19T16:37:24Z</dcterms:modified>
</cp:coreProperties>
</file>