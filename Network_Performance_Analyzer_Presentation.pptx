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9601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4B3A8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22208" y="9601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89136" y="9601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56064" y="9601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22992" y="1188720"/>
            <a:ext cx="502920" cy="0"/>
          </a:xfrm>
          <a:prstGeom prst="line">
            <a:avLst/>
          </a:prstGeom>
          <a:noFill/>
          <a:ln w="25400">
            <a:solidFill>
              <a:srgbClr val="1C8C9B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0771632" y="91440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10771632" y="914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818120" y="5029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Engineering Lab  ·  17M15CS122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3504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Protocol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Analyzer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Queuing-theory based simulation of network packet queues using SimPy — validated against theory, with TCP vs UDP analysis.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5257800"/>
            <a:ext cx="2926080" cy="0"/>
          </a:xfrm>
          <a:prstGeom prst="line">
            <a:avLst/>
          </a:prstGeom>
          <a:noFill/>
          <a:ln w="19050">
            <a:solidFill>
              <a:srgbClr val="1C8C9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</a:t>
            </a:r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Abhijeet Kumar (22803029)   ·   Viyom Shukla (22803030)   ·   Devang Dixit (22803031)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 </a:t>
            </a:r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Shikha Jain, Associate Professor, Dept. of CSE  ·  JIIT Sector 62, Noida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analyze network queues?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852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traffic grows, packets wait in buffers and queues before transmission. </a:t>
            </a:r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arrival rate approaches link capacity, queues build up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causing higher delay, more packet loss, and lower throughput.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5852160" cy="1554480"/>
          </a:xfrm>
          <a:prstGeom prst="rect">
            <a:avLst/>
          </a:prstGeom>
          <a:solidFill>
            <a:srgbClr val="F5F8FB"/>
          </a:solidFill>
          <a:ln w="12700">
            <a:solidFill>
              <a:srgbClr val="DCE6F2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
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queuing theory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(M/M/1, M/M/c) with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discrete-event simulation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(SimPy) to reproduce and validate real network behaviour in a controlled, repeatable way.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892040"/>
            <a:ext cx="384048" cy="384048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4873752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Delay:  </a:t>
            </a:r>
            <a:pPr indent="0" marL="0"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wait longer in the buffer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42239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404104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loss:  </a:t>
            </a:r>
            <a:pPr indent="0" marL="0"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buffers drop arrivals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952744"/>
            <a:ext cx="384048" cy="384048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5934456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 </a:t>
            </a:r>
            <a:pPr indent="0" marL="0"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data rate falls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66560" y="1600200"/>
            <a:ext cx="4846320" cy="4572000"/>
          </a:xfrm>
          <a:prstGeom prst="roundRect">
            <a:avLst>
              <a:gd name="adj" fmla="val 2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single-server queue  (M/M/1)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866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24B3A8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438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154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16436B"/>
          </a:solidFill>
          <a:ln w="12700">
            <a:solidFill>
              <a:srgbClr val="24B3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26974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 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64040" y="3300984"/>
            <a:ext cx="640080" cy="0"/>
          </a:xfrm>
          <a:prstGeom prst="line">
            <a:avLst/>
          </a:prstGeom>
          <a:noFill/>
          <a:ln w="25400">
            <a:solidFill>
              <a:srgbClr val="1C8C9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49840" y="2971800"/>
            <a:ext cx="685800" cy="68580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9966960" y="3703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82980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 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40880" y="4480560"/>
            <a:ext cx="4297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λ / (c·μ)
</a:t>
            </a:r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intensity — the fraction of capacity in use. Must stay below 1 for a stable queue.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sets out to 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2240280"/>
          </a:xfrm>
          <a:prstGeom prst="roundRect">
            <a:avLst>
              <a:gd name="adj" fmla="val 367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10512"/>
            <a:ext cx="548640" cy="54864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672" y="2514600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importance of queuing analysis in computer networks.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6552" y="1554480"/>
            <a:ext cx="3611880" cy="2240280"/>
          </a:xfrm>
          <a:prstGeom prst="roundRect">
            <a:avLst>
              <a:gd name="adj" fmla="val 367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72584" y="1810512"/>
            <a:ext cx="548640" cy="54864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0" name="Text 8"/>
          <p:cNvSpPr/>
          <p:nvPr/>
        </p:nvSpPr>
        <p:spPr>
          <a:xfrm>
            <a:off x="4672584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72584" y="2514600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&amp; simulate single-server (M/M/1) and multi-server (M/M/c) models.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84464" y="1554480"/>
            <a:ext cx="3611880" cy="2240280"/>
          </a:xfrm>
          <a:prstGeom prst="roundRect">
            <a:avLst>
              <a:gd name="adj" fmla="val 367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40496" y="1810512"/>
            <a:ext cx="548640" cy="54864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14" name="Text 12"/>
          <p:cNvSpPr/>
          <p:nvPr/>
        </p:nvSpPr>
        <p:spPr>
          <a:xfrm>
            <a:off x="8540496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40496" y="2514600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simulation against theory — Little's Law and Erlang-C.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050792"/>
            <a:ext cx="3611880" cy="2240280"/>
          </a:xfrm>
          <a:prstGeom prst="roundRect">
            <a:avLst>
              <a:gd name="adj" fmla="val 367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306824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3068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4672" y="5010912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throughput, average delay and packet loss.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416552" y="4050792"/>
            <a:ext cx="3611880" cy="2240280"/>
          </a:xfrm>
          <a:prstGeom prst="roundRect">
            <a:avLst>
              <a:gd name="adj" fmla="val 367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4306824"/>
            <a:ext cx="548640" cy="54864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22" name="Text 20"/>
          <p:cNvSpPr/>
          <p:nvPr/>
        </p:nvSpPr>
        <p:spPr>
          <a:xfrm>
            <a:off x="4672584" y="43068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72584" y="5010912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TCP vs UDP behaviour under varying traffic loads.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84464" y="4050792"/>
            <a:ext cx="3611880" cy="2240280"/>
          </a:xfrm>
          <a:prstGeom prst="roundRect">
            <a:avLst>
              <a:gd name="adj" fmla="val 367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40496" y="4306824"/>
            <a:ext cx="548640" cy="54864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26" name="Text 24"/>
          <p:cNvSpPr/>
          <p:nvPr/>
        </p:nvSpPr>
        <p:spPr>
          <a:xfrm>
            <a:off x="8540496" y="430682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40496" y="5010912"/>
            <a:ext cx="309981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queue configuration that performs best for a given load.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the analysis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5F8FB"/>
          </a:solidFill>
          <a:ln w="19050">
            <a:solidFill>
              <a:srgbClr val="1B6CA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arrivals at rate λ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78808" y="2542032"/>
            <a:ext cx="219456" cy="219456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10" name="Shape 8"/>
          <p:cNvSpPr/>
          <p:nvPr/>
        </p:nvSpPr>
        <p:spPr>
          <a:xfrm>
            <a:off x="4416552" y="173736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5F8FB"/>
          </a:solidFill>
          <a:ln w="19050">
            <a:solidFill>
              <a:srgbClr val="1C8C9B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1965960"/>
            <a:ext cx="502920" cy="50292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85232" y="1938528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72584" y="283464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M/M/1, M/M/c, M/M/c/K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2542032"/>
            <a:ext cx="219456" cy="219456"/>
          </a:xfrm>
          <a:prstGeom prst="rightArrow">
            <a:avLst/>
          </a:prstGeom>
          <a:solidFill>
            <a:srgbClr val="1C8C9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84464" y="173736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5F8FB"/>
          </a:solidFill>
          <a:ln w="19050">
            <a:solidFill>
              <a:srgbClr val="24B3A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13064" y="1965960"/>
            <a:ext cx="502920" cy="50292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53144" y="1938528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40496" y="283464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Exp. service; drop if full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5F8FB"/>
          </a:solidFill>
          <a:ln w="19050">
            <a:solidFill>
              <a:srgbClr val="E8963A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7240" y="429768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17320" y="4270248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1663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Per-packet statistics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178808" y="4873752"/>
            <a:ext cx="219456" cy="219456"/>
          </a:xfrm>
          <a:prstGeom prst="rightArrow">
            <a:avLst/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4416552" y="406908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5F8FB"/>
          </a:solidFill>
          <a:ln w="19050">
            <a:solidFill>
              <a:srgbClr val="1B6CA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45152" y="4297680"/>
            <a:ext cx="502920" cy="50292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285232" y="4270248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672584" y="51663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vs theory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4873752"/>
            <a:ext cx="219456" cy="219456"/>
          </a:xfrm>
          <a:prstGeom prst="rightArrow">
            <a:avLst/>
          </a:prstGeom>
          <a:solidFill>
            <a:srgbClr val="1B6CA8"/>
          </a:solidFill>
          <a:ln/>
        </p:spPr>
      </p:sp>
      <p:sp>
        <p:nvSpPr>
          <p:cNvPr id="33" name="Shape 31"/>
          <p:cNvSpPr/>
          <p:nvPr/>
        </p:nvSpPr>
        <p:spPr>
          <a:xfrm>
            <a:off x="8284464" y="406908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F5F8FB"/>
          </a:solidFill>
          <a:ln w="19050">
            <a:solidFill>
              <a:srgbClr val="1C8C9B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513064" y="4297680"/>
            <a:ext cx="502920" cy="50292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35" name="Text 33"/>
          <p:cNvSpPr/>
          <p:nvPr/>
        </p:nvSpPr>
        <p:spPr>
          <a:xfrm>
            <a:off x="8513064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153144" y="4270248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Compare</a:t>
            </a:r>
            <a:endParaRPr lang="en-US" sz="15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Visualization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40496" y="51663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vs UDP · graphs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1064240" y="3611880"/>
            <a:ext cx="219456" cy="365760"/>
          </a:xfrm>
          <a:prstGeom prst="downArrow">
            <a:avLst/>
          </a:prstGeom>
          <a:solidFill>
            <a:srgbClr val="E8963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implementation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= one stage of the pipeline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126480" cy="658368"/>
          </a:xfrm>
          <a:prstGeom prst="roundRect">
            <a:avLst>
              <a:gd name="adj" fmla="val 9722"/>
            </a:avLst>
          </a:prstGeom>
          <a:solidFill>
            <a:srgbClr val="EEF3F8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traffic_generator.py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520440" y="1600200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arrivals &amp; exponential service times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6126480" cy="658368"/>
          </a:xfrm>
          <a:prstGeom prst="roundRect">
            <a:avLst>
              <a:gd name="adj" fmla="val 9722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50008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queue_models.py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520440" y="2350008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SimPy engine for M/M/1, M/M/c, M/M/c/K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99816"/>
            <a:ext cx="6126480" cy="658368"/>
          </a:xfrm>
          <a:prstGeom prst="roundRect">
            <a:avLst>
              <a:gd name="adj" fmla="val 9722"/>
            </a:avLst>
          </a:prstGeom>
          <a:solidFill>
            <a:srgbClr val="EEF3F8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099816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theoretical.py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520440" y="3099816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formulas — Little's Law, Erlang-C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49624"/>
            <a:ext cx="6126480" cy="658368"/>
          </a:xfrm>
          <a:prstGeom prst="roundRect">
            <a:avLst>
              <a:gd name="adj" fmla="val 9722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49624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metrics.py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20440" y="3849624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Throughput, delay, loss, utilisation + validation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99432"/>
            <a:ext cx="6126480" cy="658368"/>
          </a:xfrm>
          <a:prstGeom prst="roundRect">
            <a:avLst>
              <a:gd name="adj" fmla="val 9722"/>
            </a:avLst>
          </a:prstGeom>
          <a:solidFill>
            <a:srgbClr val="EEF3F8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599432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protocol_comparison.py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4599432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vs UDP behaviour under load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6126480" cy="658368"/>
          </a:xfrm>
          <a:prstGeom prst="roundRect">
            <a:avLst>
              <a:gd name="adj" fmla="val 9722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3492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6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visualization.py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520440" y="5349240"/>
            <a:ext cx="3063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graphs &amp; reports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949440" y="1600200"/>
            <a:ext cx="4663440" cy="4617720"/>
          </a:xfrm>
          <a:prstGeom prst="roundRect">
            <a:avLst>
              <a:gd name="adj" fmla="val 198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it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23760" y="246888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6436B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0" y="2761488"/>
            <a:ext cx="502920" cy="50292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261518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web app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092440" y="299923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 — live sliders &amp; graphs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23760" y="37033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6436B"/>
          </a:solidFill>
          <a:ln/>
        </p:spPr>
      </p:sp>
      <p:sp>
        <p:nvSpPr>
          <p:cNvPr id="29" name="Shape 27"/>
          <p:cNvSpPr/>
          <p:nvPr/>
        </p:nvSpPr>
        <p:spPr>
          <a:xfrm>
            <a:off x="7406640" y="3995928"/>
            <a:ext cx="502920" cy="50292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30" name="Text 28"/>
          <p:cNvSpPr/>
          <p:nvPr/>
        </p:nvSpPr>
        <p:spPr>
          <a:xfrm>
            <a:off x="8092440" y="384962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Menu-driven CLI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092440" y="4233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main.py --demo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223760" y="493776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6436B"/>
          </a:solidFill>
          <a:ln/>
        </p:spPr>
      </p:sp>
      <p:sp>
        <p:nvSpPr>
          <p:cNvPr id="33" name="Shape 31"/>
          <p:cNvSpPr/>
          <p:nvPr/>
        </p:nvSpPr>
        <p:spPr>
          <a:xfrm>
            <a:off x="7406640" y="5230368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92440" y="508406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notebook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92440" y="54681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click, self-contained, runs anywhere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Queuing models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models, from simple to realistic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5F8FB"/>
          </a:solidFill>
          <a:ln w="19050">
            <a:solidFill>
              <a:srgbClr val="1B6CA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M/M/1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server</a:t>
            </a:r>
            <a:endParaRPr lang="en-US" sz="15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buffer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one link,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packet loss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16459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5F8FB"/>
          </a:solidFill>
          <a:ln w="19050">
            <a:solidFill>
              <a:srgbClr val="1C8C9B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16552" y="164592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C8C9B"/>
          </a:solidFill>
          <a:ln/>
        </p:spPr>
      </p:sp>
      <p:sp>
        <p:nvSpPr>
          <p:cNvPr id="11" name="Text 9"/>
          <p:cNvSpPr/>
          <p:nvPr/>
        </p:nvSpPr>
        <p:spPr>
          <a:xfrm>
            <a:off x="4416552" y="164592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M/M/c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90872" y="26060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parallel servers</a:t>
            </a:r>
            <a:endParaRPr lang="en-US" sz="15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buffer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90872" y="3611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adding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(Erlang-C)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84464" y="16459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5F8FB"/>
          </a:solidFill>
          <a:ln w="19050">
            <a:solidFill>
              <a:srgbClr val="E8963A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84464" y="164592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8284464" y="164592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M/M/c/K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558784" y="260604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servers, finite</a:t>
            </a:r>
            <a:endParaRPr lang="en-US" sz="15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of size 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58784" y="361188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overflow →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loss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0E2A47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937760"/>
            <a:ext cx="10424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queuing theory: 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Little's Law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 = λ·W)  couples number-in-system to delay; 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Erlang-C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the probability an arrival must wait. Simulation reproduces both to within ~1–2%.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measured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numbers that describe the network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822960" cy="82296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successfully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per second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443484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43484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B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pkts / 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93008" y="178308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0268" y="2103120"/>
            <a:ext cx="822960" cy="82296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0268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30168" y="30632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75888" y="356616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 system: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+ service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13048" y="443484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3813048" y="443484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B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Wq + 1/μ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37376" y="178308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74636" y="210312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7374636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74536" y="30632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Loss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20256" y="356616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arrivals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(buffer full)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757416" y="443484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/>
        </p:spPr>
      </p:sp>
      <p:sp>
        <p:nvSpPr>
          <p:cNvPr id="24" name="Text 22"/>
          <p:cNvSpPr/>
          <p:nvPr/>
        </p:nvSpPr>
        <p:spPr>
          <a:xfrm>
            <a:off x="6757416" y="443484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B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P(block)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381744" y="178308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19004" y="2103120"/>
            <a:ext cx="822960" cy="82296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27" name="Text 25"/>
          <p:cNvSpPr/>
          <p:nvPr/>
        </p:nvSpPr>
        <p:spPr>
          <a:xfrm>
            <a:off x="10319004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518904" y="30632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564624" y="356616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time the</a:t>
            </a:r>
            <a:endParaRPr lang="en-US" sz="13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server(s) stay busy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9701784" y="443484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/>
        </p:spPr>
      </p:sp>
      <p:sp>
        <p:nvSpPr>
          <p:cNvPr id="31" name="Text 29"/>
          <p:cNvSpPr/>
          <p:nvPr/>
        </p:nvSpPr>
        <p:spPr>
          <a:xfrm>
            <a:off x="9701784" y="443484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B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 = λ/(c·μ)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prints a Simulation-vs-Theory table so the two can be cross-checked.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simulation validated against theory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M/M/1 load sweep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54480"/>
            <a:ext cx="8595360" cy="38822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5321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5F8FB"/>
          </a:solidFill>
          <a:ln w="19050">
            <a:solidFill>
              <a:srgbClr val="1B6CA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553212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Markers sit on the curve.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(dots) matches theory (line) — errors &lt; 2%.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172200" y="55321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5F8FB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0" y="5532120"/>
            <a:ext cx="5029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explodes as ρ → 1.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queuing 'knee' — throughput tracks load until saturation.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TCP vs UDP under increasing load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reliability-vs-latency trade-off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10881360" cy="40406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62356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6" name="Shape 3"/>
          <p:cNvSpPr/>
          <p:nvPr/>
        </p:nvSpPr>
        <p:spPr>
          <a:xfrm>
            <a:off x="841248" y="5943600"/>
            <a:ext cx="292608" cy="29260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7" name="Text 4"/>
          <p:cNvSpPr/>
          <p:nvPr/>
        </p:nvSpPr>
        <p:spPr>
          <a:xfrm>
            <a:off x="1298448" y="5687568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— best-effort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Loses up to ~38% of packets under overload, but keeps delay low.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562356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/>
        </p:spPr>
      </p:sp>
      <p:sp>
        <p:nvSpPr>
          <p:cNvPr id="9" name="Shape 6"/>
          <p:cNvSpPr/>
          <p:nvPr/>
        </p:nvSpPr>
        <p:spPr>
          <a:xfrm>
            <a:off x="6419088" y="5943600"/>
            <a:ext cx="292608" cy="292608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10" name="Text 7"/>
          <p:cNvSpPr/>
          <p:nvPr/>
        </p:nvSpPr>
        <p:spPr>
          <a:xfrm>
            <a:off x="6876288" y="5687568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— reliable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Retransmits → ≈0% loss and goodput capped at capacity, but delay grows sharply.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more servers, lower delay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M/M/1 vs M/M/c  ·  simulation vs theory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486400" cy="32990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486400" cy="31476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0292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servers keeps delay far lower at the same per-server load.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6263640" y="50292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and theoretical metrics agree bar-for-bar.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56235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E2A47"/>
          </a:solidFill>
          <a:ln/>
        </p:spPr>
      </p:sp>
      <p:sp>
        <p:nvSpPr>
          <p:cNvPr id="9" name="Text 5"/>
          <p:cNvSpPr/>
          <p:nvPr/>
        </p:nvSpPr>
        <p:spPr>
          <a:xfrm>
            <a:off x="868680" y="562356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configuration for a given load is the one that keeps ρ comfortably below 1 — often by adding a server rather than a faster one.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libraries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in the Python scientific stack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80260"/>
            <a:ext cx="640080" cy="64008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802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69164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93008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49040" y="2080260"/>
            <a:ext cx="640080" cy="64008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0" name="Text 8"/>
          <p:cNvSpPr/>
          <p:nvPr/>
        </p:nvSpPr>
        <p:spPr>
          <a:xfrm>
            <a:off x="3749040" y="20802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98848" y="169164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SimPy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discrete-event sim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93408" y="2080260"/>
            <a:ext cx="640080" cy="64008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693408" y="20802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43216" y="169164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arrays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81744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7776" y="2080260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8" name="Text 16"/>
          <p:cNvSpPr/>
          <p:nvPr/>
        </p:nvSpPr>
        <p:spPr>
          <a:xfrm>
            <a:off x="9637776" y="20802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387584" y="169164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queuing formulas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3771900"/>
            <a:ext cx="640080" cy="64008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719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338328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&amp; charts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93008" y="338328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49040" y="3771900"/>
            <a:ext cx="640080" cy="64008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26" name="Text 24"/>
          <p:cNvSpPr/>
          <p:nvPr/>
        </p:nvSpPr>
        <p:spPr>
          <a:xfrm>
            <a:off x="3749040" y="37719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498848" y="338328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tabulate results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37376" y="338328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693408" y="3771900"/>
            <a:ext cx="640080" cy="64008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30" name="Text 28"/>
          <p:cNvSpPr/>
          <p:nvPr/>
        </p:nvSpPr>
        <p:spPr>
          <a:xfrm>
            <a:off x="6693408" y="37719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443216" y="338328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web app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381744" y="338328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  <a:effectLst>
            <a:outerShdw sx="100000" sy="100000" kx="0" ky="0" algn="bl" rotWithShape="0" blurRad="101600" dist="38100" dir="5400000">
              <a:srgbClr val="9AAABF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637776" y="3771900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4" name="Text 32"/>
          <p:cNvSpPr/>
          <p:nvPr/>
        </p:nvSpPr>
        <p:spPr>
          <a:xfrm>
            <a:off x="9637776" y="37719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10387584" y="3383280"/>
            <a:ext cx="1554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6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48640" y="507492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0E2A47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0749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&amp; shareable: 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on GitHub  ·  one-click Google Colab notebook  ·  live web app on Streamlit Community Cloud.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8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delivers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EF3F8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simulation of M/M/1 and M/M/c queues validated against theory.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2450592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606040"/>
            <a:ext cx="384048" cy="384048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450592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 of throughput, delay and loss under varying loads.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209544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EF3F8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364992"/>
            <a:ext cx="384048" cy="384048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364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3209544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comparison of TCP vs UDP behaviour under congestion.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48640" y="3968496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123944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23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968496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of the best queue configuration for a given load.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48640" y="4727448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EF3F8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882896"/>
            <a:ext cx="384048" cy="384048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8828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727448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of results through graphs and comparison charts.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F5F8FB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641848"/>
            <a:ext cx="384048" cy="384048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641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548640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understanding of network optimisation via queuing analysis.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Queuing theory + discrete-event simulation gives an intuitive, validated view of network performance.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16436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24B3A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reproduces queuing theory to within ~1–2%.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96596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16436B"/>
          </a:solidFill>
          <a:ln/>
        </p:spPr>
      </p:sp>
      <p:sp>
        <p:nvSpPr>
          <p:cNvPr id="10" name="Shape 8"/>
          <p:cNvSpPr/>
          <p:nvPr/>
        </p:nvSpPr>
        <p:spPr>
          <a:xfrm>
            <a:off x="4645152" y="2240280"/>
            <a:ext cx="502920" cy="502920"/>
          </a:xfrm>
          <a:prstGeom prst="ellipse">
            <a:avLst/>
          </a:prstGeom>
          <a:solidFill>
            <a:srgbClr val="1C8C9B"/>
          </a:solidFill>
          <a:ln/>
        </p:spPr>
      </p:sp>
      <p:sp>
        <p:nvSpPr>
          <p:cNvPr id="11" name="Text 9"/>
          <p:cNvSpPr/>
          <p:nvPr/>
        </p:nvSpPr>
        <p:spPr>
          <a:xfrm>
            <a:off x="4645152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30952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2971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servers (M/M/c) sharply reduces delay at the same load.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1584" y="196596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16436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61704" y="22860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Insightful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75904" y="29718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trades higher delay for ≈0 loss; UDP keeps low delay but loses data under overload.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8368" y="4206240"/>
            <a:ext cx="10881360" cy="0"/>
          </a:xfrm>
          <a:prstGeom prst="line">
            <a:avLst/>
          </a:prstGeom>
          <a:noFill/>
          <a:ln w="19050">
            <a:solidFill>
              <a:srgbClr val="1643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43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8368" y="470916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Kleinrock, </a:t>
            </a:r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Queueing Systems, Vol. 1: Theory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Wiley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Raj Jain, </a:t>
            </a:r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of Computer Systems Performance Analysis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Wiley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Kurose &amp; Ross, </a:t>
            </a:r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Networking: A Top-Down Approach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Pearson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863840" y="4434840"/>
            <a:ext cx="3703320" cy="1737360"/>
          </a:xfrm>
          <a:prstGeom prst="roundRect">
            <a:avLst>
              <a:gd name="adj" fmla="val 5263"/>
            </a:avLst>
          </a:prstGeom>
          <a:solidFill>
            <a:srgbClr val="1B6CA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0" y="45720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001000" y="4892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24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app
</a:t>
            </a:r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network-performance-analyzer
.streamlit.app
</a:t>
            </a:r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DEVANGDIXIT04/network-performance-analyzer  ·  + Google Colab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Abhijeet Kumar (22803029)  ·  Viyom Shukla (22803030)  ·  Devang Dixit (22803031)      |      JIIT Sector 62  ·  Performance Engineering Lab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Protocol Performance Analyzer</dc:title>
  <dc:subject>PptxGenJS Presentation</dc:subject>
  <dc:creator>Abhijeet Kumar, Viyom Shukla, Devang Dixit</dc:creator>
  <cp:lastModifiedBy>Abhijeet Kumar, Viyom Shukla, Devang Dixit</cp:lastModifiedBy>
  <cp:revision>1</cp:revision>
  <dcterms:created xsi:type="dcterms:W3CDTF">2026-07-19T16:43:15Z</dcterms:created>
  <dcterms:modified xsi:type="dcterms:W3CDTF">2026-07-19T16:43:15Z</dcterms:modified>
</cp:coreProperties>
</file>